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an operating model, not a technology product.
The core idea is controlled flexibility: one baseline, increasing context, and visible governance.
[Sources]
- D:/personal workspace/agent-standard/docs/briefs/agent-standard-six-layer-enterprise-architecture.docx
- D:/personal workspace/agent-standard/docs/diagrams.md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left to right: business direction enters the standard, repository context shapes delivery, and evidence returns to teams and platforms.
Delivery-platform administration remains outside the standard unless explicitly authorized.
[Sources]
- D:/personal workspace/agent-standard/docs/architecture.md
- D:/personal workspace/agent-standard/docs/diagrams.md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1 is the contract; later layers add context and governed flexibility.
Each layer has a distinct purpose, so teams can adopt in stages without waiting for the full operating model.
[Sources]
- D:/personal workspace/agent-standard/docs/briefs/agent-standard-six-layer-enterprise-architecture.docx
- D:/personal workspace/agent-standard/docs/diagrams.md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middle column as the operating process and the right column as the outcome leaders should expect.
The capability boundaries keep ownership visible as the standard matures.
[Sources]
- D:/personal workspace/agent-standard/docs/briefs/agent-standard-six-layer-enterprise-architecture.docx
- D:/personal workspace/agent-standard/docs/conformance.md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difference between assessment and application: assessment remains read-only, while application requires an explicit decision.
The workflow produces evidence but does not silently change organization or repository platform settings.
[Sources]
- D:/personal workspace/agent-standard/docs/runbook.md
- D:/personal workspace/agent-standard/docs/architecture.md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is not created by adding more rules; it comes from predictable control, reusable decisions, and evidence.
The architecture deliberately keeps the dependency list small and makes risks visible.
[Sources]
- D:/personal workspace/agent-standard/README.md
- D:/personal workspace/agent-standard/docs/conformance.md
- D:/personal workspace/agent-standard/docs/release-evidence-v1.0.0.md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recommended adoption path starts with a deliverable Layer 1 and uses pilot evidence to justify each expansion.
This avoids turning the standard into a platform before the organization needs the additional layers.
[Sources]
- D:/personal workspace/agent-standard/docs/briefs/agent-standard-six-layer-enterprise-architecture.docx
- D:/personal workspace/agent-standard/docs/release-evidence-v1.0.0.md
- D:/personal workspace/agent-standard/pilot/README.md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63FF"/>
          </a:solidFill>
          <a:ln w="12700">
            <a:solidFill>
              <a:srgbClr val="14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05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STANDARD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C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ENGINEERING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Six-layer enterprise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76656" y="380390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D8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operating model for safer, faster AI-assisted delivery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76656" y="5138928"/>
            <a:ext cx="182880" cy="182880"/>
          </a:xfrm>
          <a:prstGeom prst="ellipse">
            <a:avLst/>
          </a:prstGeom>
          <a:solidFill>
            <a:srgbClr val="70A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5102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98648" y="5138928"/>
            <a:ext cx="182880" cy="18288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5102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5138928"/>
            <a:ext cx="182880" cy="18288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5102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speed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42632" y="5138928"/>
            <a:ext cx="182880" cy="182880"/>
          </a:xfrm>
          <a:prstGeom prst="ellipse">
            <a:avLst/>
          </a:prstGeom>
          <a:solidFill>
            <a:srgbClr val="2F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2" y="5102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scale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" y="6181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C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stakeholder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4846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system connects policy, teams, repositories and delivery platforms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38912" y="1115568"/>
            <a:ext cx="11301984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42032" y="1965960"/>
            <a:ext cx="1161288" cy="1115568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42032" y="3081528"/>
            <a:ext cx="1161288" cy="0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42032" y="4197096"/>
            <a:ext cx="1161288" cy="-1115568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65392" y="3081528"/>
            <a:ext cx="859536" cy="0"/>
          </a:xfrm>
          <a:prstGeom prst="line">
            <a:avLst/>
          </a:prstGeom>
          <a:noFill/>
          <a:ln w="3048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08592" y="3081528"/>
            <a:ext cx="548640" cy="-749808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08592" y="3081528"/>
            <a:ext cx="548640" cy="758952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24928" y="3931920"/>
            <a:ext cx="-4864608" cy="105156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0352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users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1673352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F2F4F7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746504"/>
            <a:ext cx="1792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leaders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" y="27889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F2F4F7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62072"/>
            <a:ext cx="1792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" y="3904488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F2F4F7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77640"/>
            <a:ext cx="1792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teams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3320" y="1901952"/>
            <a:ext cx="2862072" cy="2359152"/>
          </a:xfrm>
          <a:prstGeom prst="roundRect">
            <a:avLst/>
          </a:prstGeom>
          <a:solidFill>
            <a:srgbClr val="1463FF"/>
          </a:solidFill>
          <a:ln w="12700">
            <a:solidFill>
              <a:srgbClr val="1463FF"/>
            </a:solidFill>
            <a:prstDash val="solid"/>
          </a:ln>
          <a:effectLst>
            <a:outerShdw sx="100000" sy="100000" kx="0" ky="0" algn="bl" rotWithShape="0" blurRad="12700" dist="50800" dir="2700000">
              <a:srgbClr val="7F9CCF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41648" y="2276856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023360" y="33375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guidance • safe adoption • evidence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03320" y="134416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24928" y="2441448"/>
            <a:ext cx="1883664" cy="1280160"/>
          </a:xfrm>
          <a:prstGeom prst="roundRect">
            <a:avLst>
              <a:gd name="adj" fmla="val 8571"/>
            </a:avLst>
          </a:prstGeom>
          <a:solidFill>
            <a:srgbClr val="EAF1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2514600"/>
            <a:ext cx="16642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57232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services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857232" y="18288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1901952"/>
            <a:ext cx="16093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assistants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40112" y="2496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• Claude • Copilot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57232" y="3337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3410712"/>
            <a:ext cx="16093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platforms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040112" y="4005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• Azure DevOps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" y="4983480"/>
            <a:ext cx="11155680" cy="932688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BDD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166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flows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874520" y="5166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guidance 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45152" y="5166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context through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73568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evidence out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69080" y="5303520"/>
            <a:ext cx="320040" cy="0"/>
          </a:xfrm>
          <a:prstGeom prst="line">
            <a:avLst/>
          </a:prstGeom>
          <a:noFill/>
          <a:ln w="1905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88352" y="5303520"/>
            <a:ext cx="320040" cy="0"/>
          </a:xfrm>
          <a:prstGeom prst="line">
            <a:avLst/>
          </a:prstGeom>
          <a:noFill/>
          <a:ln w="1905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4846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layers add flexibility without weakening the foundation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38912" y="1115568"/>
            <a:ext cx="11301984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335024"/>
            <a:ext cx="11155680" cy="603504"/>
          </a:xfrm>
          <a:prstGeom prst="roundRect">
            <a:avLst/>
          </a:prstGeom>
          <a:solidFill>
            <a:srgbClr val="DCE8FF"/>
          </a:solidFill>
          <a:ln w="20320">
            <a:solidFill>
              <a:srgbClr val="7D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44752"/>
            <a:ext cx="384048" cy="384048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4447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baseline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57600" y="14447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shared, immutable minimum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59168" y="144475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security, quality and evidence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30352" y="2084832"/>
            <a:ext cx="11155680" cy="603504"/>
          </a:xfrm>
          <a:prstGeom prst="roundRect">
            <a:avLst/>
          </a:prstGeom>
          <a:solidFill>
            <a:srgbClr val="E8F0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94560"/>
            <a:ext cx="384048" cy="38404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Selectable profiles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57600" y="2194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patterns for common technologies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59168" y="219456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setup with fewer repeated decisions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0352" y="2834640"/>
            <a:ext cx="11155680" cy="603504"/>
          </a:xfrm>
          <a:prstGeom prst="roundRect">
            <a:avLst/>
          </a:prstGeom>
          <a:solidFill>
            <a:srgbClr val="F0F5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944368"/>
            <a:ext cx="384048" cy="38404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944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overlay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657600" y="2944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business and system context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59168" y="2944368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fit without duplicating the baseline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30352" y="3584448"/>
            <a:ext cx="11155680" cy="603504"/>
          </a:xfrm>
          <a:prstGeom prst="roundRect">
            <a:avLst/>
          </a:prstGeom>
          <a:solidFill>
            <a:srgbClr val="F5F8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694176"/>
            <a:ext cx="384048" cy="38404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3694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precedence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657600" y="36941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rules when guidance overlaps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59168" y="369417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behavior and simpler troubleshooting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30352" y="4334256"/>
            <a:ext cx="11155680" cy="60350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443984"/>
            <a:ext cx="384048" cy="38404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44439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assessment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3657600" y="444398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review before change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59168" y="444398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onboarding with no silent overwrites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30352" y="5084064"/>
            <a:ext cx="111556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5193792"/>
            <a:ext cx="384048" cy="38404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25880" y="5193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exceptions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3657600" y="51937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Time-bound, owned deviations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059168" y="519379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with accountability and auditability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66928" y="6007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control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057400" y="6126480"/>
            <a:ext cx="7680960" cy="0"/>
          </a:xfrm>
          <a:prstGeom prst="line">
            <a:avLst/>
          </a:prstGeom>
          <a:noFill/>
          <a:ln w="2540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838944" y="6007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context and flexibility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CAPABILITY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4846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capabilities turn the architecture into repeatable business processes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38912" y="1115568"/>
            <a:ext cx="11301984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984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2984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49640" y="1298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627632"/>
            <a:ext cx="11155680" cy="932688"/>
          </a:xfrm>
          <a:prstGeom prst="roundRect">
            <a:avLst/>
          </a:prstGeom>
          <a:solidFill>
            <a:srgbClr val="F5F8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627632"/>
            <a:ext cx="82296" cy="932688"/>
          </a:xfrm>
          <a:prstGeom prst="rect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5564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baseline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" y="21122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093976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63056" y="2093976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6080" y="1828800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90195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standards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3168" y="1828800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90195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guidance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0256" y="1828800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90195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evidence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40496" y="1773936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 minimum for every supported repository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2743200"/>
            <a:ext cx="11155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743200"/>
            <a:ext cx="82296" cy="932688"/>
          </a:xfrm>
          <a:prstGeom prst="rect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87121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to context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49808" y="32278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2–3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15968" y="3209544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63056" y="3209544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6080" y="2944368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30175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profile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73168" y="2944368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0175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local context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0256" y="2944368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30175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ownership clear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0496" y="2889504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guidance without central duplication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30352" y="3858768"/>
            <a:ext cx="11155680" cy="932688"/>
          </a:xfrm>
          <a:prstGeom prst="roundRect">
            <a:avLst/>
          </a:prstGeom>
          <a:solidFill>
            <a:srgbClr val="F5F8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3858768"/>
            <a:ext cx="82296" cy="932688"/>
          </a:xfrm>
          <a:prstGeom prst="rect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8678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safely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3434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4–5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15968" y="4325112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163056" y="4325112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926080" y="4059936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5808" y="41330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precedence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73168" y="4059936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41330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current state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20256" y="4059936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413308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change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40496" y="400507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onboarding that protects project knowledge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530352" y="4974336"/>
            <a:ext cx="11155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" y="4974336"/>
            <a:ext cx="82296" cy="932688"/>
          </a:xfrm>
          <a:prstGeom prst="rect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51023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exceptions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749808" y="5458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6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315968" y="5440680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163056" y="5440680"/>
            <a:ext cx="310896" cy="0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926080" y="5175504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35808" y="524865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deviation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773168" y="5175504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2896" y="524865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with an owner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620256" y="5175504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29984" y="524865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or expire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540496" y="51206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flexibility with an audit trail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4846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adoption follows a visible, reviewable path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38912" y="1115568"/>
            <a:ext cx="11301984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2743200"/>
            <a:ext cx="402336" cy="0"/>
          </a:xfrm>
          <a:prstGeom prst="line">
            <a:avLst/>
          </a:prstGeom>
          <a:noFill/>
          <a:ln w="3048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09160" y="2743200"/>
            <a:ext cx="402336" cy="0"/>
          </a:xfrm>
          <a:prstGeom prst="line">
            <a:avLst/>
          </a:prstGeom>
          <a:noFill/>
          <a:ln w="3048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40880" y="2743200"/>
            <a:ext cx="402336" cy="0"/>
          </a:xfrm>
          <a:prstGeom prst="line">
            <a:avLst/>
          </a:prstGeom>
          <a:noFill/>
          <a:ln w="3048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372600" y="2743200"/>
            <a:ext cx="402336" cy="0"/>
          </a:xfrm>
          <a:prstGeom prst="line">
            <a:avLst/>
          </a:prstGeom>
          <a:noFill/>
          <a:ln w="3048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084832"/>
            <a:ext cx="1874520" cy="1325880"/>
          </a:xfrm>
          <a:prstGeom prst="roundRect">
            <a:avLst/>
          </a:prstGeom>
          <a:solidFill>
            <a:srgbClr val="102A56"/>
          </a:solidFill>
          <a:ln w="15240">
            <a:solidFill>
              <a:srgbClr val="102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585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60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revision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" y="30266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baseline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2084832"/>
            <a:ext cx="1874520" cy="1325880"/>
          </a:xfrm>
          <a:prstGeom prst="roundRect">
            <a:avLst/>
          </a:prstGeom>
          <a:solidFill>
            <a:srgbClr val="F5F8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2258568"/>
            <a:ext cx="310896" cy="310896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660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repository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80944" y="30266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66360" y="2084832"/>
            <a:ext cx="1874520" cy="1325880"/>
          </a:xfrm>
          <a:prstGeom prst="roundRect">
            <a:avLst/>
          </a:prstGeom>
          <a:solidFill>
            <a:srgbClr val="F5F8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258568"/>
            <a:ext cx="310896" cy="310896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660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decisions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12664" y="30266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2084832"/>
            <a:ext cx="1874520" cy="1325880"/>
          </a:xfrm>
          <a:prstGeom prst="roundRect">
            <a:avLst/>
          </a:prstGeom>
          <a:solidFill>
            <a:srgbClr val="F5F8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258568"/>
            <a:ext cx="310896" cy="310896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2660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safely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44384" y="30266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approval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29800" y="2084832"/>
            <a:ext cx="1874520" cy="1325880"/>
          </a:xfrm>
          <a:prstGeom prst="roundRect">
            <a:avLst/>
          </a:prstGeom>
          <a:solidFill>
            <a:srgbClr val="1463FF"/>
          </a:solidFill>
          <a:ln w="15240">
            <a:solidFill>
              <a:srgbClr val="1463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22585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66960" y="2660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govern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76104" y="30266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updates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352" y="4187952"/>
            <a:ext cx="11155680" cy="1252728"/>
          </a:xfrm>
          <a:prstGeom prst="roundRect">
            <a:avLst/>
          </a:prstGeom>
          <a:solidFill>
            <a:srgbClr val="F2F4F7"/>
          </a:solidFill>
          <a:ln w="1016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425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6817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guidance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3566160" y="4425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46817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Repository-owned content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309360" y="4425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67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6817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mutation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052560" y="4425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46817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evidence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40080" y="57150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platform settings remain administrator-owned unless explicitly authorized.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AND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4846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comes from controlling a small set of dependencies and risks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38912" y="1115568"/>
            <a:ext cx="11301984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399032"/>
            <a:ext cx="3246120" cy="603504"/>
          </a:xfrm>
          <a:prstGeom prst="round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3619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0" y="1399032"/>
            <a:ext cx="3337560" cy="603504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AB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9392" y="15361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dependencies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827264" y="1399032"/>
            <a:ext cx="3858768" cy="603504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FEC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1856" y="153619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4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risks &amp; response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13232" y="2276856"/>
            <a:ext cx="274320" cy="274320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3856" y="2240280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controls are applied consistently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3136392"/>
            <a:ext cx="274320" cy="274320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3856" y="309981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3856" y="3392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evidence is explicit and reviewable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3232" y="3995928"/>
            <a:ext cx="274320" cy="274320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" y="3959352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3856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reuse approved decisions and automation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3232" y="4855464"/>
            <a:ext cx="274320" cy="274320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855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3856" y="481888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33856" y="51114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context is added without fragmenting the baseline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15968" y="2221992"/>
            <a:ext cx="2926080" cy="603504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BDD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23134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baseline revision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15968" y="3081528"/>
            <a:ext cx="2926080" cy="603504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BDD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31729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repository owner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15968" y="3941064"/>
            <a:ext cx="2926080" cy="603504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BDD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403250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verification tools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15968" y="4800600"/>
            <a:ext cx="2926080" cy="603504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BDD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4892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Administrator-controlled delivery settings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28432" y="217627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changes unexpectedly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28432" y="2487168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immutable approved revision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28432" y="2980944"/>
            <a:ext cx="3401568" cy="0"/>
          </a:xfrm>
          <a:prstGeom prst="line">
            <a:avLst/>
          </a:prstGeom>
          <a:noFill/>
          <a:ln w="1016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31181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knowledge is overwritten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28432" y="342900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on unowned content collisions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28432" y="3922776"/>
            <a:ext cx="3401568" cy="0"/>
          </a:xfrm>
          <a:prstGeom prst="line">
            <a:avLst/>
          </a:prstGeom>
          <a:noFill/>
          <a:ln w="1016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405993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assumed, not proven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28432" y="437083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local and remote evidence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028432" y="4864608"/>
            <a:ext cx="3401568" cy="0"/>
          </a:xfrm>
          <a:prstGeom prst="line">
            <a:avLst/>
          </a:prstGeom>
          <a:noFill/>
          <a:ln w="10160">
            <a:solidFill>
              <a:srgbClr val="FECA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50017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becomes too complex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28432" y="5312664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layers only as adoption needs grow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ADOPTION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4846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Layer 1; expand only when evidence supports it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438912" y="1115568"/>
            <a:ext cx="11301984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834640"/>
            <a:ext cx="9509760" cy="0"/>
          </a:xfrm>
          <a:prstGeom prst="line">
            <a:avLst/>
          </a:prstGeom>
          <a:noFill/>
          <a:ln w="3048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78024" y="2615184"/>
            <a:ext cx="438912" cy="438912"/>
          </a:xfrm>
          <a:prstGeom prst="ellipse">
            <a:avLst/>
          </a:prstGeom>
          <a:solidFill>
            <a:srgbClr val="146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44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328416"/>
            <a:ext cx="2651760" cy="1920240"/>
          </a:xfrm>
          <a:prstGeom prst="roundRect">
            <a:avLst/>
          </a:prstGeom>
          <a:solidFill>
            <a:srgbClr val="102A56"/>
          </a:solidFill>
          <a:ln w="15240">
            <a:solidFill>
              <a:srgbClr val="102A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3611880"/>
            <a:ext cx="146304" cy="146304"/>
          </a:xfrm>
          <a:prstGeom prst="ellipse">
            <a:avLst/>
          </a:prstGeom>
          <a:solidFill>
            <a:srgbClr val="A9C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trusted baseline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72768" y="4114800"/>
            <a:ext cx="146304" cy="146304"/>
          </a:xfrm>
          <a:prstGeom prst="ellipse">
            <a:avLst/>
          </a:prstGeom>
          <a:solidFill>
            <a:srgbClr val="A9C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representative repositories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72768" y="4617720"/>
            <a:ext cx="146304" cy="146304"/>
          </a:xfrm>
          <a:prstGeom prst="ellipse">
            <a:avLst/>
          </a:prstGeom>
          <a:solidFill>
            <a:srgbClr val="A9C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4526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adoption friction and control evidence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78424" y="2615184"/>
            <a:ext cx="438912" cy="438912"/>
          </a:xfrm>
          <a:prstGeom prst="ellipse">
            <a:avLst/>
          </a:prstGeom>
          <a:solidFill>
            <a:srgbClr val="1463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444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2–3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3328416"/>
            <a:ext cx="2651760" cy="1920240"/>
          </a:xfrm>
          <a:prstGeom prst="roundRect">
            <a:avLst/>
          </a:prstGeom>
          <a:solidFill>
            <a:srgbClr val="EAF1FF"/>
          </a:solidFill>
          <a:ln w="15240">
            <a:solidFill>
              <a:srgbClr val="9ABE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3611880"/>
            <a:ext cx="146304" cy="146304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approved technology profiles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73168" y="4114800"/>
            <a:ext cx="146304" cy="146304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repository-owned context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73168" y="4617720"/>
            <a:ext cx="146304" cy="146304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4526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central and local ownership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878824" y="2615184"/>
            <a:ext cx="438912" cy="438912"/>
          </a:xfrm>
          <a:prstGeom prst="ellipse">
            <a:avLst/>
          </a:prstGeom>
          <a:solidFill>
            <a:srgbClr val="102A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1444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4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1755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at scale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772400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4–6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72400" y="3328416"/>
            <a:ext cx="26517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3568" y="3611880"/>
            <a:ext cx="146304" cy="146304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precedence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73568" y="4114800"/>
            <a:ext cx="146304" cy="146304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1312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adoption assessment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973568" y="4617720"/>
            <a:ext cx="146304" cy="146304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45262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governed exceptions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371600" y="5623560"/>
            <a:ext cx="9052560" cy="530352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BDD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57424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  •  increasing context  •  controlled flexibility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1052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Enterprise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Six-layer enterprise agent architecture</dc:title>
  <dc:subject>Business walkthrough of the six-layer Agent Standard architecture</dc:subject>
  <dc:creator>Agent Standard maintainers</dc:creator>
  <cp:lastModifiedBy>Agent Standard maintainers</cp:lastModifiedBy>
  <cp:revision>1</cp:revision>
  <dcterms:created xsi:type="dcterms:W3CDTF">2026-08-31T03:27:24Z</dcterms:created>
  <dcterms:modified xsi:type="dcterms:W3CDTF">2026-08-31T03:27:24Z</dcterms:modified>
</cp:coreProperties>
</file>