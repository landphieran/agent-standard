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this as an operating model, not a technology product.
The core idea is controlled flexibility: one baseline, increasing context, and visible governance.
[Sources]
- docs/briefs/agent-standard-six-layer-enterprise-architecture.docx
- docs/diagrams.md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from left to right: business direction enters the standard, repository context shapes delivery, and evidence returns to teams and platforms.
Delivery-platform administration remains outside the standard unless explicitly authorized.
[Sources]
- docs/architecture.md
- docs/diagrams.md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Layer 1 is the contract; later layers add context and governed flexibility.
Each layer has a distinct purpose, so teams can adopt in stages without waiting for the full operating model.
[Sources]
- docs/briefs/agent-standard-six-layer-enterprise-architecture.docx
- docs/diagrams.md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the middle column as the operating process and the right column as the outcome leaders should expect.
The capability boundaries keep ownership visible as the standard matures.
[Sources]
- docs/briefs/agent-standard-six-layer-enterprise-architecture.docx
- docs/conformance.md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Emphasize the difference between assessment and application: assessment remains read-only, while application requires an explicit decision.
The workflow produces evidence but does not silently change organization or repository platform settings.
[Sources]
- docs/runbook.md
- docs/architecture.md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Value is not created by adding more rules; it comes from predictable control, reusable decisions, and evidence.
The architecture deliberately keeps the dependency list small and makes risks visible.
[Sources]
- README.md
- docs/conformance.md
- docs/release-evidence-v1.0.0.md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recommended adoption path starts with a deliverable Layer 1 and uses pilot evidence to justify each expansion.
This avoids turning the standard into a platform before the organization needs the additional layers.
[Sources]
- docs/briefs/agent-standard-six-layer-enterprise-architecture.docx
- docs/release-evidence-v1.0.0.md
- pilot/README.md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NDARD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463FF"/>
          </a:solidFill>
          <a:ln w="12700">
            <a:solidFill>
              <a:srgbClr val="146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38912" y="6510528"/>
            <a:ext cx="20116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STANDARD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692640" y="6510528"/>
            <a:ext cx="1600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 architecture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66576" y="6510528"/>
            <a:ext cx="274320" cy="1463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66576" y="6510528"/>
            <a:ext cx="274320" cy="1463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A5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463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56692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A9C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 ENGINEERING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58368" y="1307592"/>
            <a:ext cx="76809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Six-layer enterprise</a:t>
            </a:r>
            <a:endParaRPr lang="en-US" sz="5200" dirty="0"/>
          </a:p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architecture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676656" y="3803904"/>
            <a:ext cx="6583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D8E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governed operating model for safer, faster AI-assisted delivery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676656" y="5138928"/>
            <a:ext cx="182880" cy="182880"/>
          </a:xfrm>
          <a:prstGeom prst="ellipse">
            <a:avLst/>
          </a:prstGeom>
          <a:solidFill>
            <a:srgbClr val="70A0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50976" y="5102352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2898648" y="5138928"/>
            <a:ext cx="182880" cy="182880"/>
          </a:xfrm>
          <a:prstGeom prst="ellipse">
            <a:avLst/>
          </a:prstGeom>
          <a:solidFill>
            <a:srgbClr val="2F7B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172968" y="5102352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Quality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120640" y="5138928"/>
            <a:ext cx="182880" cy="182880"/>
          </a:xfrm>
          <a:prstGeom prst="ellipse">
            <a:avLst/>
          </a:prstGeom>
          <a:solidFill>
            <a:srgbClr val="2F7B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394960" y="5102352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Delivery speed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7342632" y="5138928"/>
            <a:ext cx="182880" cy="182880"/>
          </a:xfrm>
          <a:prstGeom prst="ellipse">
            <a:avLst/>
          </a:prstGeom>
          <a:solidFill>
            <a:srgbClr val="2F7B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616952" y="5102352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Engineering scale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76656" y="6181344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A9C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stakeholder walkthrough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8912" y="237744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spc="130" kern="0" dirty="0">
                <a:solidFill>
                  <a:srgbClr val="146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 CONTEXT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38912" y="484632"/>
            <a:ext cx="11201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500" b="1" dirty="0">
                <a:solidFill>
                  <a:srgbClr val="101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governed system connects policy, teams, repositories and delivery platforms</a:t>
            </a:r>
            <a:endParaRPr lang="en-US" sz="3500" dirty="0"/>
          </a:p>
        </p:txBody>
      </p:sp>
      <p:sp>
        <p:nvSpPr>
          <p:cNvPr id="4" name="Shape 2"/>
          <p:cNvSpPr/>
          <p:nvPr/>
        </p:nvSpPr>
        <p:spPr>
          <a:xfrm>
            <a:off x="438912" y="1115568"/>
            <a:ext cx="11301984" cy="0"/>
          </a:xfrm>
          <a:prstGeom prst="line">
            <a:avLst/>
          </a:prstGeom>
          <a:noFill/>
          <a:ln w="12700">
            <a:solidFill>
              <a:srgbClr val="D0D5D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542032" y="1965960"/>
            <a:ext cx="1161288" cy="1115568"/>
          </a:xfrm>
          <a:prstGeom prst="line">
            <a:avLst/>
          </a:prstGeom>
          <a:noFill/>
          <a:ln w="17780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2542032" y="3081528"/>
            <a:ext cx="1161288" cy="0"/>
          </a:xfrm>
          <a:prstGeom prst="line">
            <a:avLst/>
          </a:prstGeom>
          <a:noFill/>
          <a:ln w="17780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2542032" y="4197096"/>
            <a:ext cx="1161288" cy="-1115568"/>
          </a:xfrm>
          <a:prstGeom prst="line">
            <a:avLst/>
          </a:prstGeom>
          <a:noFill/>
          <a:ln w="17780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6565392" y="3081528"/>
            <a:ext cx="859536" cy="0"/>
          </a:xfrm>
          <a:prstGeom prst="line">
            <a:avLst/>
          </a:prstGeom>
          <a:noFill/>
          <a:ln w="30480">
            <a:solidFill>
              <a:srgbClr val="1463FF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9308592" y="3081528"/>
            <a:ext cx="548640" cy="-749808"/>
          </a:xfrm>
          <a:prstGeom prst="line">
            <a:avLst/>
          </a:prstGeom>
          <a:noFill/>
          <a:ln w="17780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9308592" y="3081528"/>
            <a:ext cx="548640" cy="758952"/>
          </a:xfrm>
          <a:prstGeom prst="line">
            <a:avLst/>
          </a:prstGeom>
          <a:noFill/>
          <a:ln w="17780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530352" y="134416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4754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users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30352" y="1673352"/>
            <a:ext cx="2011680" cy="594360"/>
          </a:xfrm>
          <a:prstGeom prst="roundRect">
            <a:avLst>
              <a:gd name="adj" fmla="val 18462"/>
            </a:avLst>
          </a:prstGeom>
          <a:solidFill>
            <a:srgbClr val="F2F4F7"/>
          </a:solidFill>
          <a:ln w="15240">
            <a:solidFill>
              <a:srgbClr val="D0D5D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1746504"/>
            <a:ext cx="1792224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1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Engineering leaders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530352" y="2788920"/>
            <a:ext cx="2011680" cy="594360"/>
          </a:xfrm>
          <a:prstGeom prst="roundRect">
            <a:avLst>
              <a:gd name="adj" fmla="val 18462"/>
            </a:avLst>
          </a:prstGeom>
          <a:solidFill>
            <a:srgbClr val="F2F4F7"/>
          </a:solidFill>
          <a:ln w="15240">
            <a:solidFill>
              <a:srgbClr val="D0D5D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862072"/>
            <a:ext cx="1792224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1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&amp; governance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30352" y="3904488"/>
            <a:ext cx="2011680" cy="594360"/>
          </a:xfrm>
          <a:prstGeom prst="roundRect">
            <a:avLst>
              <a:gd name="adj" fmla="val 18462"/>
            </a:avLst>
          </a:prstGeom>
          <a:solidFill>
            <a:srgbClr val="F2F4F7"/>
          </a:solidFill>
          <a:ln w="15240">
            <a:solidFill>
              <a:srgbClr val="D0D5D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3977640"/>
            <a:ext cx="1792224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1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Repository teams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3703320" y="1901952"/>
            <a:ext cx="2862072" cy="2359152"/>
          </a:xfrm>
          <a:prstGeom prst="roundRect">
            <a:avLst/>
          </a:prstGeom>
          <a:solidFill>
            <a:srgbClr val="1463FF"/>
          </a:solidFill>
          <a:ln w="12700">
            <a:solidFill>
              <a:srgbClr val="1463FF"/>
            </a:solidFill>
            <a:prstDash val="solid"/>
          </a:ln>
          <a:effectLst>
            <a:outerShdw sx="100000" sy="100000" kx="0" ky="0" algn="bl" rotWithShape="0" blurRad="12700" dist="50800" dir="2700000">
              <a:srgbClr val="7F9CCF">
                <a:alpha val="1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041648" y="2276856"/>
            <a:ext cx="217627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</a:t>
            </a:r>
            <a:endParaRPr lang="en-US" sz="3000" dirty="0"/>
          </a:p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</a:t>
            </a:r>
            <a:endParaRPr lang="en-US" sz="3000" dirty="0"/>
          </a:p>
        </p:txBody>
      </p:sp>
      <p:sp>
        <p:nvSpPr>
          <p:cNvPr id="21" name="Text 19"/>
          <p:cNvSpPr/>
          <p:nvPr/>
        </p:nvSpPr>
        <p:spPr>
          <a:xfrm>
            <a:off x="4023360" y="3337560"/>
            <a:ext cx="221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E7E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approved guidance • safe adoption • evidence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3703320" y="1344168"/>
            <a:ext cx="2862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754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system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7424928" y="2441448"/>
            <a:ext cx="1883664" cy="1280160"/>
          </a:xfrm>
          <a:prstGeom prst="roundRect">
            <a:avLst>
              <a:gd name="adj" fmla="val 8571"/>
            </a:avLst>
          </a:prstGeom>
          <a:solidFill>
            <a:srgbClr val="EAF1FF"/>
          </a:solidFill>
          <a:ln w="15240">
            <a:solidFill>
              <a:srgbClr val="9ABE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534656" y="2514600"/>
            <a:ext cx="1664208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02A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Consumer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102A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repositories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857232" y="134416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754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Third-party services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9857232" y="1828800"/>
            <a:ext cx="182880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5240">
            <a:solidFill>
              <a:srgbClr val="D0D5D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966960" y="1901952"/>
            <a:ext cx="160934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Coding assistants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10040112" y="249631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Codex • Claude • Copilot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9857232" y="3337560"/>
            <a:ext cx="182880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5240">
            <a:solidFill>
              <a:srgbClr val="D0D5D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966960" y="3410712"/>
            <a:ext cx="160934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Delivery platforms</a:t>
            </a:r>
            <a:endParaRPr lang="en-US" sz="1700" dirty="0"/>
          </a:p>
        </p:txBody>
      </p:sp>
      <p:sp>
        <p:nvSpPr>
          <p:cNvPr id="31" name="Text 29"/>
          <p:cNvSpPr/>
          <p:nvPr/>
        </p:nvSpPr>
        <p:spPr>
          <a:xfrm>
            <a:off x="10040112" y="400507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• Azure DevOps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530352" y="4983480"/>
            <a:ext cx="11155680" cy="932688"/>
          </a:xfrm>
          <a:prstGeom prst="roundRect">
            <a:avLst/>
          </a:prstGeom>
          <a:solidFill>
            <a:srgbClr val="F5F8FF"/>
          </a:solidFill>
          <a:ln w="12700">
            <a:solidFill>
              <a:srgbClr val="BDD2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49808" y="516636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46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 flows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1874520" y="51663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01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Approved guidance in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4645152" y="516636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01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Repository context through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7973568" y="51663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01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Conformance evidence out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069080" y="5303520"/>
            <a:ext cx="320040" cy="0"/>
          </a:xfrm>
          <a:prstGeom prst="line">
            <a:avLst/>
          </a:prstGeom>
          <a:noFill/>
          <a:ln w="19050">
            <a:solidFill>
              <a:srgbClr val="1463FF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7388352" y="5303520"/>
            <a:ext cx="320040" cy="0"/>
          </a:xfrm>
          <a:prstGeom prst="line">
            <a:avLst/>
          </a:prstGeom>
          <a:noFill/>
          <a:ln w="19050">
            <a:solidFill>
              <a:srgbClr val="1463FF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66576" y="6510528"/>
            <a:ext cx="274320" cy="1463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8912" y="237744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spc="130" kern="0" dirty="0">
                <a:solidFill>
                  <a:srgbClr val="146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LAYERED ARCHITECTURE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38912" y="484632"/>
            <a:ext cx="11201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500" b="1" dirty="0">
                <a:solidFill>
                  <a:srgbClr val="101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six layers add flexibility without weakening the foundation</a:t>
            </a:r>
            <a:endParaRPr lang="en-US" sz="3500" dirty="0"/>
          </a:p>
        </p:txBody>
      </p:sp>
      <p:sp>
        <p:nvSpPr>
          <p:cNvPr id="4" name="Shape 2"/>
          <p:cNvSpPr/>
          <p:nvPr/>
        </p:nvSpPr>
        <p:spPr>
          <a:xfrm>
            <a:off x="438912" y="1115568"/>
            <a:ext cx="11301984" cy="0"/>
          </a:xfrm>
          <a:prstGeom prst="line">
            <a:avLst/>
          </a:prstGeom>
          <a:noFill/>
          <a:ln w="12700">
            <a:solidFill>
              <a:srgbClr val="D0D5D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30352" y="1335024"/>
            <a:ext cx="11155680" cy="603504"/>
          </a:xfrm>
          <a:prstGeom prst="roundRect">
            <a:avLst/>
          </a:prstGeom>
          <a:solidFill>
            <a:srgbClr val="DCE8FF"/>
          </a:solidFill>
          <a:ln w="20320">
            <a:solidFill>
              <a:srgbClr val="7DA6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1444752"/>
            <a:ext cx="384048" cy="384048"/>
          </a:xfrm>
          <a:prstGeom prst="ellipse">
            <a:avLst/>
          </a:prstGeom>
          <a:solidFill>
            <a:srgbClr val="1463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4447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325880" y="1444752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01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 baseline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3657600" y="1444752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4754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shared, immutable minimum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7059168" y="1444752"/>
            <a:ext cx="43159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2A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Consistent security, quality and evidence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530352" y="2084832"/>
            <a:ext cx="11155680" cy="603504"/>
          </a:xfrm>
          <a:prstGeom prst="roundRect">
            <a:avLst/>
          </a:prstGeom>
          <a:solidFill>
            <a:srgbClr val="E8F0FF"/>
          </a:solidFill>
          <a:ln w="10160">
            <a:solidFill>
              <a:srgbClr val="D0D5D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2194560"/>
            <a:ext cx="384048" cy="384048"/>
          </a:xfrm>
          <a:prstGeom prst="ellipse">
            <a:avLst/>
          </a:prstGeom>
          <a:solidFill>
            <a:srgbClr val="102A5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21945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325880" y="219456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01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Selectable profiles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3657600" y="2194560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4754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Approved patterns for common technologies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7059168" y="2194560"/>
            <a:ext cx="43159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4754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Faster setup with fewer repeated decisions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530352" y="2834640"/>
            <a:ext cx="11155680" cy="603504"/>
          </a:xfrm>
          <a:prstGeom prst="roundRect">
            <a:avLst/>
          </a:prstGeom>
          <a:solidFill>
            <a:srgbClr val="F0F5FF"/>
          </a:solidFill>
          <a:ln w="10160">
            <a:solidFill>
              <a:srgbClr val="D0D5D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1520" y="2944368"/>
            <a:ext cx="384048" cy="384048"/>
          </a:xfrm>
          <a:prstGeom prst="ellipse">
            <a:avLst/>
          </a:prstGeom>
          <a:solidFill>
            <a:srgbClr val="102A5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1520" y="29443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325880" y="2944368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01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Repository overlay</a:t>
            </a:r>
            <a:endParaRPr lang="en-US" sz="1900" dirty="0"/>
          </a:p>
        </p:txBody>
      </p:sp>
      <p:sp>
        <p:nvSpPr>
          <p:cNvPr id="21" name="Text 19"/>
          <p:cNvSpPr/>
          <p:nvPr/>
        </p:nvSpPr>
        <p:spPr>
          <a:xfrm>
            <a:off x="3657600" y="2944368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4754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business and system context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7059168" y="2944368"/>
            <a:ext cx="43159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4754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Better fit without duplicating the baseline</a:t>
            </a:r>
            <a:endParaRPr lang="en-US" sz="1700" dirty="0"/>
          </a:p>
        </p:txBody>
      </p:sp>
      <p:sp>
        <p:nvSpPr>
          <p:cNvPr id="23" name="Shape 21"/>
          <p:cNvSpPr/>
          <p:nvPr/>
        </p:nvSpPr>
        <p:spPr>
          <a:xfrm>
            <a:off x="530352" y="3584448"/>
            <a:ext cx="11155680" cy="603504"/>
          </a:xfrm>
          <a:prstGeom prst="roundRect">
            <a:avLst/>
          </a:prstGeom>
          <a:solidFill>
            <a:srgbClr val="F5F8FF"/>
          </a:solidFill>
          <a:ln w="10160">
            <a:solidFill>
              <a:srgbClr val="D0D5D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31520" y="3694176"/>
            <a:ext cx="384048" cy="384048"/>
          </a:xfrm>
          <a:prstGeom prst="ellipse">
            <a:avLst/>
          </a:prstGeom>
          <a:solidFill>
            <a:srgbClr val="102A5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3694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1325880" y="3694176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01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Explicit precedence</a:t>
            </a:r>
            <a:endParaRPr lang="en-US" sz="1900" dirty="0"/>
          </a:p>
        </p:txBody>
      </p:sp>
      <p:sp>
        <p:nvSpPr>
          <p:cNvPr id="27" name="Text 25"/>
          <p:cNvSpPr/>
          <p:nvPr/>
        </p:nvSpPr>
        <p:spPr>
          <a:xfrm>
            <a:off x="3657600" y="3694176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4754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rules when guidance overlaps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7059168" y="3694176"/>
            <a:ext cx="43159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4754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Predictable behavior and simpler troubleshooting</a:t>
            </a:r>
            <a:endParaRPr lang="en-US" sz="1700" dirty="0"/>
          </a:p>
        </p:txBody>
      </p:sp>
      <p:sp>
        <p:nvSpPr>
          <p:cNvPr id="29" name="Shape 27"/>
          <p:cNvSpPr/>
          <p:nvPr/>
        </p:nvSpPr>
        <p:spPr>
          <a:xfrm>
            <a:off x="530352" y="4334256"/>
            <a:ext cx="11155680" cy="603504"/>
          </a:xfrm>
          <a:prstGeom prst="roundRect">
            <a:avLst/>
          </a:prstGeom>
          <a:solidFill>
            <a:srgbClr val="F8FAFC"/>
          </a:solidFill>
          <a:ln w="10160">
            <a:solidFill>
              <a:srgbClr val="D0D5DD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31520" y="4443984"/>
            <a:ext cx="384048" cy="384048"/>
          </a:xfrm>
          <a:prstGeom prst="ellipse">
            <a:avLst/>
          </a:prstGeom>
          <a:solidFill>
            <a:srgbClr val="102A5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31520" y="44439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1325880" y="4443984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01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Adoption assessment</a:t>
            </a:r>
            <a:endParaRPr lang="en-US" sz="1900" dirty="0"/>
          </a:p>
        </p:txBody>
      </p:sp>
      <p:sp>
        <p:nvSpPr>
          <p:cNvPr id="33" name="Text 31"/>
          <p:cNvSpPr/>
          <p:nvPr/>
        </p:nvSpPr>
        <p:spPr>
          <a:xfrm>
            <a:off x="3657600" y="4443984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4754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visible review before change</a:t>
            </a:r>
            <a:endParaRPr lang="en-US" sz="1700" dirty="0"/>
          </a:p>
        </p:txBody>
      </p:sp>
      <p:sp>
        <p:nvSpPr>
          <p:cNvPr id="34" name="Text 32"/>
          <p:cNvSpPr/>
          <p:nvPr/>
        </p:nvSpPr>
        <p:spPr>
          <a:xfrm>
            <a:off x="7059168" y="4443984"/>
            <a:ext cx="43159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4754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Safer onboarding with no silent overwrites</a:t>
            </a:r>
            <a:endParaRPr lang="en-US" sz="1700" dirty="0"/>
          </a:p>
        </p:txBody>
      </p:sp>
      <p:sp>
        <p:nvSpPr>
          <p:cNvPr id="35" name="Shape 33"/>
          <p:cNvSpPr/>
          <p:nvPr/>
        </p:nvSpPr>
        <p:spPr>
          <a:xfrm>
            <a:off x="530352" y="5084064"/>
            <a:ext cx="11155680" cy="60350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0D5DD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31520" y="5193792"/>
            <a:ext cx="384048" cy="384048"/>
          </a:xfrm>
          <a:prstGeom prst="ellipse">
            <a:avLst/>
          </a:prstGeom>
          <a:solidFill>
            <a:srgbClr val="102A5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31520" y="51937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1325880" y="5193792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01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Governed exceptions</a:t>
            </a:r>
            <a:endParaRPr lang="en-US" sz="1900" dirty="0"/>
          </a:p>
        </p:txBody>
      </p:sp>
      <p:sp>
        <p:nvSpPr>
          <p:cNvPr id="39" name="Text 37"/>
          <p:cNvSpPr/>
          <p:nvPr/>
        </p:nvSpPr>
        <p:spPr>
          <a:xfrm>
            <a:off x="3657600" y="5193792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4754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Time-bound, owned deviations</a:t>
            </a:r>
            <a:endParaRPr lang="en-US" sz="1700" dirty="0"/>
          </a:p>
        </p:txBody>
      </p:sp>
      <p:sp>
        <p:nvSpPr>
          <p:cNvPr id="40" name="Text 38"/>
          <p:cNvSpPr/>
          <p:nvPr/>
        </p:nvSpPr>
        <p:spPr>
          <a:xfrm>
            <a:off x="7059168" y="5193792"/>
            <a:ext cx="43159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4754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Flexibility with accountability and auditability</a:t>
            </a:r>
            <a:endParaRPr lang="en-US" sz="1700" dirty="0"/>
          </a:p>
        </p:txBody>
      </p:sp>
      <p:sp>
        <p:nvSpPr>
          <p:cNvPr id="41" name="Text 39"/>
          <p:cNvSpPr/>
          <p:nvPr/>
        </p:nvSpPr>
        <p:spPr>
          <a:xfrm>
            <a:off x="566928" y="600760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46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Common control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2057400" y="6126480"/>
            <a:ext cx="7680960" cy="0"/>
          </a:xfrm>
          <a:prstGeom prst="line">
            <a:avLst/>
          </a:prstGeom>
          <a:noFill/>
          <a:ln w="25400">
            <a:solidFill>
              <a:srgbClr val="1463FF"/>
            </a:solidFill>
            <a:prstDash val="solid"/>
            <a:tailEnd type="triangle"/>
          </a:ln>
        </p:spPr>
      </p:sp>
      <p:sp>
        <p:nvSpPr>
          <p:cNvPr id="43" name="Text 41"/>
          <p:cNvSpPr/>
          <p:nvPr/>
        </p:nvSpPr>
        <p:spPr>
          <a:xfrm>
            <a:off x="9838944" y="600760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46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context and flexibility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66576" y="6510528"/>
            <a:ext cx="274320" cy="1463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8912" y="237744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spc="130" kern="0" dirty="0">
                <a:solidFill>
                  <a:srgbClr val="146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CAPABILITY MAP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38912" y="484632"/>
            <a:ext cx="11201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500" b="1" dirty="0">
                <a:solidFill>
                  <a:srgbClr val="101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capabilities turn the architecture into repeatable business processes</a:t>
            </a:r>
            <a:endParaRPr lang="en-US" sz="3500" dirty="0"/>
          </a:p>
        </p:txBody>
      </p:sp>
      <p:sp>
        <p:nvSpPr>
          <p:cNvPr id="4" name="Shape 2"/>
          <p:cNvSpPr/>
          <p:nvPr/>
        </p:nvSpPr>
        <p:spPr>
          <a:xfrm>
            <a:off x="438912" y="1115568"/>
            <a:ext cx="11301984" cy="0"/>
          </a:xfrm>
          <a:prstGeom prst="line">
            <a:avLst/>
          </a:prstGeom>
          <a:noFill/>
          <a:ln w="12700">
            <a:solidFill>
              <a:srgbClr val="D0D5D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298448"/>
            <a:ext cx="2240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CAPABILITY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926080" y="1298448"/>
            <a:ext cx="4754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PROCESS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549640" y="1298448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RESULT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30352" y="1627632"/>
            <a:ext cx="11155680" cy="932688"/>
          </a:xfrm>
          <a:prstGeom prst="roundRect">
            <a:avLst/>
          </a:prstGeom>
          <a:solidFill>
            <a:srgbClr val="F5F8FF"/>
          </a:solidFill>
          <a:ln w="10160">
            <a:solidFill>
              <a:srgbClr val="D0D5D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30352" y="1627632"/>
            <a:ext cx="82296" cy="932688"/>
          </a:xfrm>
          <a:prstGeom prst="rect">
            <a:avLst/>
          </a:prstGeom>
          <a:solidFill>
            <a:srgbClr val="1463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49808" y="1755648"/>
            <a:ext cx="18745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01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 the baseline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749808" y="2112264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46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Layer 1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315968" y="2093976"/>
            <a:ext cx="310896" cy="0"/>
          </a:xfrm>
          <a:prstGeom prst="line">
            <a:avLst/>
          </a:prstGeom>
          <a:noFill/>
          <a:ln w="16510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6163056" y="2093976"/>
            <a:ext cx="310896" cy="0"/>
          </a:xfrm>
          <a:prstGeom prst="line">
            <a:avLst/>
          </a:prstGeom>
          <a:noFill/>
          <a:ln w="16510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2926080" y="1828800"/>
            <a:ext cx="1389888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15240">
            <a:solidFill>
              <a:srgbClr val="D0D5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035808" y="1901952"/>
            <a:ext cx="11704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754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 standards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773168" y="1828800"/>
            <a:ext cx="1389888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15240">
            <a:solidFill>
              <a:srgbClr val="9ABE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82896" y="1901952"/>
            <a:ext cx="11704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754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Publish guidance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620256" y="1828800"/>
            <a:ext cx="1389888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15240">
            <a:solidFill>
              <a:srgbClr val="D0D5D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729984" y="1901952"/>
            <a:ext cx="11704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754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 evidence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540496" y="1773936"/>
            <a:ext cx="28529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trusted minimum for every supported repository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530352" y="2743200"/>
            <a:ext cx="11155680" cy="93268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0D5D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30352" y="2743200"/>
            <a:ext cx="82296" cy="932688"/>
          </a:xfrm>
          <a:prstGeom prst="rect">
            <a:avLst/>
          </a:prstGeom>
          <a:solidFill>
            <a:srgbClr val="102A5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49808" y="2871216"/>
            <a:ext cx="18745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01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Adapt to context</a:t>
            </a:r>
            <a:endParaRPr lang="en-US" sz="1900" dirty="0"/>
          </a:p>
        </p:txBody>
      </p:sp>
      <p:sp>
        <p:nvSpPr>
          <p:cNvPr id="24" name="Text 22"/>
          <p:cNvSpPr/>
          <p:nvPr/>
        </p:nvSpPr>
        <p:spPr>
          <a:xfrm>
            <a:off x="749808" y="3227832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46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Layers 2–3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315968" y="3209544"/>
            <a:ext cx="310896" cy="0"/>
          </a:xfrm>
          <a:prstGeom prst="line">
            <a:avLst/>
          </a:prstGeom>
          <a:noFill/>
          <a:ln w="16510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6163056" y="3209544"/>
            <a:ext cx="310896" cy="0"/>
          </a:xfrm>
          <a:prstGeom prst="line">
            <a:avLst/>
          </a:prstGeom>
          <a:noFill/>
          <a:ln w="16510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2926080" y="2944368"/>
            <a:ext cx="1389888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15240">
            <a:solidFill>
              <a:srgbClr val="D0D5D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035808" y="3017520"/>
            <a:ext cx="11704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754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Select a profile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4773168" y="2944368"/>
            <a:ext cx="1389888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15240">
            <a:solidFill>
              <a:srgbClr val="9ABE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882896" y="3017520"/>
            <a:ext cx="11704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754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local context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6620256" y="2944368"/>
            <a:ext cx="1389888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15240">
            <a:solidFill>
              <a:srgbClr val="D0D5D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729984" y="3017520"/>
            <a:ext cx="11704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754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ownership clear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8540496" y="2889504"/>
            <a:ext cx="28529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01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Relevant guidance without central duplication</a:t>
            </a:r>
            <a:endParaRPr lang="en-US" sz="1700" dirty="0"/>
          </a:p>
        </p:txBody>
      </p:sp>
      <p:sp>
        <p:nvSpPr>
          <p:cNvPr id="34" name="Shape 32"/>
          <p:cNvSpPr/>
          <p:nvPr/>
        </p:nvSpPr>
        <p:spPr>
          <a:xfrm>
            <a:off x="530352" y="3858768"/>
            <a:ext cx="11155680" cy="932688"/>
          </a:xfrm>
          <a:prstGeom prst="roundRect">
            <a:avLst/>
          </a:prstGeom>
          <a:solidFill>
            <a:srgbClr val="F5F8FF"/>
          </a:solidFill>
          <a:ln w="10160">
            <a:solidFill>
              <a:srgbClr val="D0D5DD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30352" y="3858768"/>
            <a:ext cx="82296" cy="932688"/>
          </a:xfrm>
          <a:prstGeom prst="rect">
            <a:avLst/>
          </a:prstGeom>
          <a:solidFill>
            <a:srgbClr val="102A5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49808" y="3986784"/>
            <a:ext cx="18745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01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Adopt safely</a:t>
            </a:r>
            <a:endParaRPr lang="en-US" sz="1900" dirty="0"/>
          </a:p>
        </p:txBody>
      </p:sp>
      <p:sp>
        <p:nvSpPr>
          <p:cNvPr id="37" name="Text 35"/>
          <p:cNvSpPr/>
          <p:nvPr/>
        </p:nvSpPr>
        <p:spPr>
          <a:xfrm>
            <a:off x="749808" y="4343400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46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Layers 4–5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4315968" y="4325112"/>
            <a:ext cx="310896" cy="0"/>
          </a:xfrm>
          <a:prstGeom prst="line">
            <a:avLst/>
          </a:prstGeom>
          <a:noFill/>
          <a:ln w="16510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6163056" y="4325112"/>
            <a:ext cx="310896" cy="0"/>
          </a:xfrm>
          <a:prstGeom prst="line">
            <a:avLst/>
          </a:prstGeom>
          <a:noFill/>
          <a:ln w="16510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40" name="Shape 38"/>
          <p:cNvSpPr/>
          <p:nvPr/>
        </p:nvSpPr>
        <p:spPr>
          <a:xfrm>
            <a:off x="2926080" y="4059936"/>
            <a:ext cx="1389888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15240">
            <a:solidFill>
              <a:srgbClr val="D0D5DD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035808" y="4133088"/>
            <a:ext cx="11704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754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Resolve precedence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4773168" y="4059936"/>
            <a:ext cx="1389888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15240">
            <a:solidFill>
              <a:srgbClr val="9ABE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82896" y="4133088"/>
            <a:ext cx="11704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754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Assess current state</a:t>
            </a:r>
            <a:endParaRPr lang="en-US" sz="1400" dirty="0"/>
          </a:p>
        </p:txBody>
      </p:sp>
      <p:sp>
        <p:nvSpPr>
          <p:cNvPr id="44" name="Shape 42"/>
          <p:cNvSpPr/>
          <p:nvPr/>
        </p:nvSpPr>
        <p:spPr>
          <a:xfrm>
            <a:off x="6620256" y="4059936"/>
            <a:ext cx="1389888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15240">
            <a:solidFill>
              <a:srgbClr val="D0D5DD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729984" y="4133088"/>
            <a:ext cx="11704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754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before change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8540496" y="4005072"/>
            <a:ext cx="28529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01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Predictable onboarding that protects project knowledge</a:t>
            </a:r>
            <a:endParaRPr lang="en-US" sz="1700" dirty="0"/>
          </a:p>
        </p:txBody>
      </p:sp>
      <p:sp>
        <p:nvSpPr>
          <p:cNvPr id="47" name="Shape 45"/>
          <p:cNvSpPr/>
          <p:nvPr/>
        </p:nvSpPr>
        <p:spPr>
          <a:xfrm>
            <a:off x="530352" y="4974336"/>
            <a:ext cx="11155680" cy="93268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0D5DD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30352" y="4974336"/>
            <a:ext cx="82296" cy="932688"/>
          </a:xfrm>
          <a:prstGeom prst="rect">
            <a:avLst/>
          </a:prstGeom>
          <a:solidFill>
            <a:srgbClr val="102A5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49808" y="5102352"/>
            <a:ext cx="18745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01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 exceptions</a:t>
            </a:r>
            <a:endParaRPr lang="en-US" sz="1900" dirty="0"/>
          </a:p>
        </p:txBody>
      </p:sp>
      <p:sp>
        <p:nvSpPr>
          <p:cNvPr id="50" name="Text 48"/>
          <p:cNvSpPr/>
          <p:nvPr/>
        </p:nvSpPr>
        <p:spPr>
          <a:xfrm>
            <a:off x="749808" y="5458968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46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Layer 6</a:t>
            </a:r>
            <a:endParaRPr lang="en-US" sz="1300" dirty="0"/>
          </a:p>
        </p:txBody>
      </p:sp>
      <p:sp>
        <p:nvSpPr>
          <p:cNvPr id="51" name="Shape 49"/>
          <p:cNvSpPr/>
          <p:nvPr/>
        </p:nvSpPr>
        <p:spPr>
          <a:xfrm>
            <a:off x="4315968" y="5440680"/>
            <a:ext cx="310896" cy="0"/>
          </a:xfrm>
          <a:prstGeom prst="line">
            <a:avLst/>
          </a:prstGeom>
          <a:noFill/>
          <a:ln w="16510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52" name="Shape 50"/>
          <p:cNvSpPr/>
          <p:nvPr/>
        </p:nvSpPr>
        <p:spPr>
          <a:xfrm>
            <a:off x="6163056" y="5440680"/>
            <a:ext cx="310896" cy="0"/>
          </a:xfrm>
          <a:prstGeom prst="line">
            <a:avLst/>
          </a:prstGeom>
          <a:noFill/>
          <a:ln w="16510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53" name="Shape 51"/>
          <p:cNvSpPr/>
          <p:nvPr/>
        </p:nvSpPr>
        <p:spPr>
          <a:xfrm>
            <a:off x="2926080" y="5175504"/>
            <a:ext cx="1389888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15240">
            <a:solidFill>
              <a:srgbClr val="D0D5DD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035808" y="5248656"/>
            <a:ext cx="11704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754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 deviation</a:t>
            </a:r>
            <a:endParaRPr lang="en-US" sz="1400" dirty="0"/>
          </a:p>
        </p:txBody>
      </p:sp>
      <p:sp>
        <p:nvSpPr>
          <p:cNvPr id="55" name="Shape 53"/>
          <p:cNvSpPr/>
          <p:nvPr/>
        </p:nvSpPr>
        <p:spPr>
          <a:xfrm>
            <a:off x="4773168" y="5175504"/>
            <a:ext cx="1389888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15240">
            <a:solidFill>
              <a:srgbClr val="9ABEF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882896" y="5248656"/>
            <a:ext cx="11704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754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 with an owner</a:t>
            </a:r>
            <a:endParaRPr lang="en-US" sz="1400" dirty="0"/>
          </a:p>
        </p:txBody>
      </p:sp>
      <p:sp>
        <p:nvSpPr>
          <p:cNvPr id="57" name="Shape 55"/>
          <p:cNvSpPr/>
          <p:nvPr/>
        </p:nvSpPr>
        <p:spPr>
          <a:xfrm>
            <a:off x="6620256" y="5175504"/>
            <a:ext cx="1389888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15240">
            <a:solidFill>
              <a:srgbClr val="D0D5DD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729984" y="5248656"/>
            <a:ext cx="11704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754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or expire</a:t>
            </a:r>
            <a:endParaRPr lang="en-US" sz="1400" dirty="0"/>
          </a:p>
        </p:txBody>
      </p:sp>
      <p:sp>
        <p:nvSpPr>
          <p:cNvPr id="59" name="Text 57"/>
          <p:cNvSpPr/>
          <p:nvPr/>
        </p:nvSpPr>
        <p:spPr>
          <a:xfrm>
            <a:off x="8540496" y="5120640"/>
            <a:ext cx="28529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01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Accountable flexibility with an audit trail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66576" y="6510528"/>
            <a:ext cx="274320" cy="1463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8912" y="237744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spc="130" kern="0" dirty="0">
                <a:solidFill>
                  <a:srgbClr val="146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WORKFLOW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38912" y="484632"/>
            <a:ext cx="11201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500" b="1" dirty="0">
                <a:solidFill>
                  <a:srgbClr val="101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adoption follows a visible, reviewable path</a:t>
            </a:r>
            <a:endParaRPr lang="en-US" sz="3500" dirty="0"/>
          </a:p>
        </p:txBody>
      </p:sp>
      <p:sp>
        <p:nvSpPr>
          <p:cNvPr id="4" name="Shape 2"/>
          <p:cNvSpPr/>
          <p:nvPr/>
        </p:nvSpPr>
        <p:spPr>
          <a:xfrm>
            <a:off x="438912" y="1115568"/>
            <a:ext cx="11301984" cy="0"/>
          </a:xfrm>
          <a:prstGeom prst="line">
            <a:avLst/>
          </a:prstGeom>
          <a:noFill/>
          <a:ln w="12700">
            <a:solidFill>
              <a:srgbClr val="D0D5D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377440" y="2743200"/>
            <a:ext cx="402336" cy="0"/>
          </a:xfrm>
          <a:prstGeom prst="line">
            <a:avLst/>
          </a:prstGeom>
          <a:noFill/>
          <a:ln w="30480">
            <a:solidFill>
              <a:srgbClr val="1463FF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4709160" y="2743200"/>
            <a:ext cx="402336" cy="0"/>
          </a:xfrm>
          <a:prstGeom prst="line">
            <a:avLst/>
          </a:prstGeom>
          <a:noFill/>
          <a:ln w="30480">
            <a:solidFill>
              <a:srgbClr val="1463FF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7040880" y="2743200"/>
            <a:ext cx="402336" cy="0"/>
          </a:xfrm>
          <a:prstGeom prst="line">
            <a:avLst/>
          </a:prstGeom>
          <a:noFill/>
          <a:ln w="30480">
            <a:solidFill>
              <a:srgbClr val="1463FF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9372600" y="2743200"/>
            <a:ext cx="402336" cy="0"/>
          </a:xfrm>
          <a:prstGeom prst="line">
            <a:avLst/>
          </a:prstGeom>
          <a:noFill/>
          <a:ln w="30480">
            <a:solidFill>
              <a:srgbClr val="1463FF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502920" y="2084832"/>
            <a:ext cx="1874520" cy="1325880"/>
          </a:xfrm>
          <a:prstGeom prst="roundRect">
            <a:avLst/>
          </a:prstGeom>
          <a:solidFill>
            <a:srgbClr val="102A56"/>
          </a:solidFill>
          <a:ln w="15240">
            <a:solidFill>
              <a:srgbClr val="102A5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225856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22585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2A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2660904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 revision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49224" y="30266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E7E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trusted baseline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2834640" y="2084832"/>
            <a:ext cx="1874520" cy="1325880"/>
          </a:xfrm>
          <a:prstGeom prst="roundRect">
            <a:avLst/>
          </a:prstGeom>
          <a:solidFill>
            <a:srgbClr val="F5F8FF"/>
          </a:solidFill>
          <a:ln w="15240">
            <a:solidFill>
              <a:srgbClr val="9ABE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971800" y="2258568"/>
            <a:ext cx="310896" cy="310896"/>
          </a:xfrm>
          <a:prstGeom prst="ellipse">
            <a:avLst/>
          </a:prstGeom>
          <a:solidFill>
            <a:srgbClr val="1463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971800" y="22585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971800" y="2660904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01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Assess repository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2980944" y="30266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Read-only review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166360" y="2084832"/>
            <a:ext cx="1874520" cy="1325880"/>
          </a:xfrm>
          <a:prstGeom prst="roundRect">
            <a:avLst/>
          </a:prstGeom>
          <a:solidFill>
            <a:srgbClr val="F5F8FF"/>
          </a:solidFill>
          <a:ln w="15240">
            <a:solidFill>
              <a:srgbClr val="9ABE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303520" y="2258568"/>
            <a:ext cx="310896" cy="310896"/>
          </a:xfrm>
          <a:prstGeom prst="ellipse">
            <a:avLst/>
          </a:prstGeom>
          <a:solidFill>
            <a:srgbClr val="1463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303520" y="22585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303520" y="2660904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01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Resolve decisions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5312664" y="30266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 and architecture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7498080" y="2084832"/>
            <a:ext cx="1874520" cy="1325880"/>
          </a:xfrm>
          <a:prstGeom prst="roundRect">
            <a:avLst/>
          </a:prstGeom>
          <a:solidFill>
            <a:srgbClr val="F5F8FF"/>
          </a:solidFill>
          <a:ln w="15240">
            <a:solidFill>
              <a:srgbClr val="9ABE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635240" y="2258568"/>
            <a:ext cx="310896" cy="310896"/>
          </a:xfrm>
          <a:prstGeom prst="ellipse">
            <a:avLst/>
          </a:prstGeom>
          <a:solidFill>
            <a:srgbClr val="1463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635240" y="22585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7635240" y="2660904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01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Apply safely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7644384" y="30266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Explicit approval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9829800" y="2084832"/>
            <a:ext cx="1874520" cy="1325880"/>
          </a:xfrm>
          <a:prstGeom prst="roundRect">
            <a:avLst/>
          </a:prstGeom>
          <a:solidFill>
            <a:srgbClr val="1463FF"/>
          </a:solidFill>
          <a:ln w="15240">
            <a:solidFill>
              <a:srgbClr val="1463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966960" y="225856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966960" y="22585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6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9966960" y="2660904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 &amp; govern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9976104" y="30266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E7E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 and updates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530352" y="4187952"/>
            <a:ext cx="11155680" cy="1252728"/>
          </a:xfrm>
          <a:prstGeom prst="roundRect">
            <a:avLst/>
          </a:prstGeom>
          <a:solidFill>
            <a:srgbClr val="F2F4F7"/>
          </a:solidFill>
          <a:ln w="10160">
            <a:solidFill>
              <a:srgbClr val="D0D5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22960" y="442569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146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822960" y="4681728"/>
            <a:ext cx="2240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Approved guidance</a:t>
            </a:r>
            <a:endParaRPr lang="en-US" sz="1700" dirty="0"/>
          </a:p>
        </p:txBody>
      </p:sp>
      <p:sp>
        <p:nvSpPr>
          <p:cNvPr id="37" name="Text 35"/>
          <p:cNvSpPr/>
          <p:nvPr/>
        </p:nvSpPr>
        <p:spPr>
          <a:xfrm>
            <a:off x="3566160" y="442569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102A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3566160" y="4681728"/>
            <a:ext cx="2240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Repository-owned content</a:t>
            </a:r>
            <a:endParaRPr lang="en-US" sz="1700" dirty="0"/>
          </a:p>
        </p:txBody>
      </p:sp>
      <p:sp>
        <p:nvSpPr>
          <p:cNvPr id="39" name="Text 37"/>
          <p:cNvSpPr/>
          <p:nvPr/>
        </p:nvSpPr>
        <p:spPr>
          <a:xfrm>
            <a:off x="6309360" y="442569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0676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6309360" y="4681728"/>
            <a:ext cx="2240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before mutation</a:t>
            </a:r>
            <a:endParaRPr lang="en-US" sz="1700" dirty="0"/>
          </a:p>
        </p:txBody>
      </p:sp>
      <p:sp>
        <p:nvSpPr>
          <p:cNvPr id="41" name="Text 39"/>
          <p:cNvSpPr/>
          <p:nvPr/>
        </p:nvSpPr>
        <p:spPr>
          <a:xfrm>
            <a:off x="9052560" y="442569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146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9052560" y="4681728"/>
            <a:ext cx="2240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Conformance evidence</a:t>
            </a:r>
            <a:endParaRPr lang="en-US" sz="1700" dirty="0"/>
          </a:p>
        </p:txBody>
      </p:sp>
      <p:sp>
        <p:nvSpPr>
          <p:cNvPr id="43" name="Text 41"/>
          <p:cNvSpPr/>
          <p:nvPr/>
        </p:nvSpPr>
        <p:spPr>
          <a:xfrm>
            <a:off x="640080" y="57150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4754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Remote platform settings remain administrator-owned unless explicitly authorized.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66576" y="6510528"/>
            <a:ext cx="274320" cy="1463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8912" y="237744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spc="130" kern="0" dirty="0">
                <a:solidFill>
                  <a:srgbClr val="146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 AND RISK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38912" y="484632"/>
            <a:ext cx="11201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500" b="1" dirty="0">
                <a:solidFill>
                  <a:srgbClr val="101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 comes from controlling a small set of dependencies and risks</a:t>
            </a:r>
            <a:endParaRPr lang="en-US" sz="3500" dirty="0"/>
          </a:p>
        </p:txBody>
      </p:sp>
      <p:sp>
        <p:nvSpPr>
          <p:cNvPr id="4" name="Shape 2"/>
          <p:cNvSpPr/>
          <p:nvPr/>
        </p:nvSpPr>
        <p:spPr>
          <a:xfrm>
            <a:off x="438912" y="1115568"/>
            <a:ext cx="11301984" cy="0"/>
          </a:xfrm>
          <a:prstGeom prst="line">
            <a:avLst/>
          </a:prstGeom>
          <a:noFill/>
          <a:ln w="12700">
            <a:solidFill>
              <a:srgbClr val="D0D5D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30352" y="1399032"/>
            <a:ext cx="3246120" cy="603504"/>
          </a:xfrm>
          <a:prstGeom prst="roundRect">
            <a:avLst/>
          </a:prstGeom>
          <a:solidFill>
            <a:srgbClr val="102A56"/>
          </a:solidFill>
          <a:ln w="12700">
            <a:solidFill>
              <a:srgbClr val="102A5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4944" y="1536192"/>
            <a:ext cx="29169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value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114800" y="1399032"/>
            <a:ext cx="3337560" cy="603504"/>
          </a:xfrm>
          <a:prstGeom prst="roundRect">
            <a:avLst/>
          </a:prstGeom>
          <a:solidFill>
            <a:srgbClr val="EAF1FF"/>
          </a:solidFill>
          <a:ln w="12700">
            <a:solidFill>
              <a:srgbClr val="9ABE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279392" y="1536192"/>
            <a:ext cx="30083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02A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Critical dependencies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7827264" y="1399032"/>
            <a:ext cx="3858768" cy="603504"/>
          </a:xfrm>
          <a:prstGeom prst="roundRect">
            <a:avLst/>
          </a:prstGeom>
          <a:solidFill>
            <a:srgbClr val="FFFAEB"/>
          </a:solidFill>
          <a:ln w="12700">
            <a:solidFill>
              <a:srgbClr val="FEC84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991856" y="1536192"/>
            <a:ext cx="3529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547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risks &amp; response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713232" y="2276856"/>
            <a:ext cx="274320" cy="274320"/>
          </a:xfrm>
          <a:prstGeom prst="ellipse">
            <a:avLst/>
          </a:prstGeom>
          <a:solidFill>
            <a:srgbClr val="1463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13232" y="22768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133856" y="2240280"/>
            <a:ext cx="8686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01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133856" y="2532888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4754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Trusted controls are applied consistently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13232" y="3136392"/>
            <a:ext cx="274320" cy="274320"/>
          </a:xfrm>
          <a:prstGeom prst="ellipse">
            <a:avLst/>
          </a:prstGeom>
          <a:solidFill>
            <a:srgbClr val="1463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13232" y="31363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133856" y="3099816"/>
            <a:ext cx="8686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01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Quality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133856" y="3392424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4754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Completion evidence is explicit and reviewable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713232" y="3995928"/>
            <a:ext cx="274320" cy="274320"/>
          </a:xfrm>
          <a:prstGeom prst="ellipse">
            <a:avLst/>
          </a:prstGeom>
          <a:solidFill>
            <a:srgbClr val="1463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13232" y="39959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133856" y="3959352"/>
            <a:ext cx="8686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01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Speed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133856" y="425196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4754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Teams reuse approved decisions and automation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713232" y="4855464"/>
            <a:ext cx="274320" cy="274320"/>
          </a:xfrm>
          <a:prstGeom prst="ellipse">
            <a:avLst/>
          </a:prstGeom>
          <a:solidFill>
            <a:srgbClr val="1463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13232" y="485546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133856" y="4818888"/>
            <a:ext cx="8686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01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133856" y="5111496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4754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context is added without fragmenting the baseline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4315968" y="2221992"/>
            <a:ext cx="2926080" cy="603504"/>
          </a:xfrm>
          <a:prstGeom prst="roundRect">
            <a:avLst/>
          </a:prstGeom>
          <a:solidFill>
            <a:srgbClr val="F5F8FF"/>
          </a:solidFill>
          <a:ln w="12700">
            <a:solidFill>
              <a:srgbClr val="BDD2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498848" y="2313432"/>
            <a:ext cx="2560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2A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Approved baseline revision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15968" y="3081528"/>
            <a:ext cx="2926080" cy="603504"/>
          </a:xfrm>
          <a:prstGeom prst="roundRect">
            <a:avLst/>
          </a:prstGeom>
          <a:solidFill>
            <a:srgbClr val="F5F8FF"/>
          </a:solidFill>
          <a:ln w="12700">
            <a:solidFill>
              <a:srgbClr val="BDD2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498848" y="3172968"/>
            <a:ext cx="2560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2A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Named repository owner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15968" y="3941064"/>
            <a:ext cx="2926080" cy="603504"/>
          </a:xfrm>
          <a:prstGeom prst="roundRect">
            <a:avLst/>
          </a:prstGeom>
          <a:solidFill>
            <a:srgbClr val="F5F8FF"/>
          </a:solidFill>
          <a:ln w="12700">
            <a:solidFill>
              <a:srgbClr val="BDD2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498848" y="4032504"/>
            <a:ext cx="2560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2A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Supported verification tools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4315968" y="4800600"/>
            <a:ext cx="2926080" cy="603504"/>
          </a:xfrm>
          <a:prstGeom prst="roundRect">
            <a:avLst/>
          </a:prstGeom>
          <a:solidFill>
            <a:srgbClr val="F5F8FF"/>
          </a:solidFill>
          <a:ln w="12700">
            <a:solidFill>
              <a:srgbClr val="BDD2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498848" y="4892040"/>
            <a:ext cx="2560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2A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Administrator-controlled delivery settings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8028432" y="2176272"/>
            <a:ext cx="3419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B423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Baseline changes unexpectedly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8028432" y="2487168"/>
            <a:ext cx="34198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4754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an immutable approved revision</a:t>
            </a:r>
            <a:endParaRPr lang="en-US" sz="1500" dirty="0"/>
          </a:p>
        </p:txBody>
      </p:sp>
      <p:sp>
        <p:nvSpPr>
          <p:cNvPr id="37" name="Shape 35"/>
          <p:cNvSpPr/>
          <p:nvPr/>
        </p:nvSpPr>
        <p:spPr>
          <a:xfrm>
            <a:off x="8028432" y="2980944"/>
            <a:ext cx="3401568" cy="0"/>
          </a:xfrm>
          <a:prstGeom prst="line">
            <a:avLst/>
          </a:prstGeom>
          <a:noFill/>
          <a:ln w="10160">
            <a:solidFill>
              <a:srgbClr val="FECAC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028432" y="3118104"/>
            <a:ext cx="3419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B423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knowledge is overwritten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8028432" y="3429000"/>
            <a:ext cx="34198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4754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Stop on unowned content collisions</a:t>
            </a:r>
            <a:endParaRPr lang="en-US" sz="1500" dirty="0"/>
          </a:p>
        </p:txBody>
      </p:sp>
      <p:sp>
        <p:nvSpPr>
          <p:cNvPr id="40" name="Shape 38"/>
          <p:cNvSpPr/>
          <p:nvPr/>
        </p:nvSpPr>
        <p:spPr>
          <a:xfrm>
            <a:off x="8028432" y="3922776"/>
            <a:ext cx="3401568" cy="0"/>
          </a:xfrm>
          <a:prstGeom prst="line">
            <a:avLst/>
          </a:prstGeom>
          <a:noFill/>
          <a:ln w="10160">
            <a:solidFill>
              <a:srgbClr val="FECAC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028432" y="4059936"/>
            <a:ext cx="3419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B423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Compliance is assumed, not proven</a:t>
            </a:r>
            <a:endParaRPr lang="en-US" sz="1600" dirty="0"/>
          </a:p>
        </p:txBody>
      </p:sp>
      <p:sp>
        <p:nvSpPr>
          <p:cNvPr id="42" name="Text 40"/>
          <p:cNvSpPr/>
          <p:nvPr/>
        </p:nvSpPr>
        <p:spPr>
          <a:xfrm>
            <a:off x="8028432" y="4370832"/>
            <a:ext cx="34198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4754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Separate local and remote evidence</a:t>
            </a:r>
            <a:endParaRPr lang="en-US" sz="1500" dirty="0"/>
          </a:p>
        </p:txBody>
      </p:sp>
      <p:sp>
        <p:nvSpPr>
          <p:cNvPr id="43" name="Shape 41"/>
          <p:cNvSpPr/>
          <p:nvPr/>
        </p:nvSpPr>
        <p:spPr>
          <a:xfrm>
            <a:off x="8028432" y="4864608"/>
            <a:ext cx="3401568" cy="0"/>
          </a:xfrm>
          <a:prstGeom prst="line">
            <a:avLst/>
          </a:prstGeom>
          <a:noFill/>
          <a:ln w="10160">
            <a:solidFill>
              <a:srgbClr val="FECACA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028432" y="5001768"/>
            <a:ext cx="3419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B423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Governance becomes too complex</a:t>
            </a:r>
            <a:endParaRPr lang="en-US" sz="1600" dirty="0"/>
          </a:p>
        </p:txBody>
      </p:sp>
      <p:sp>
        <p:nvSpPr>
          <p:cNvPr id="45" name="Text 43"/>
          <p:cNvSpPr/>
          <p:nvPr/>
        </p:nvSpPr>
        <p:spPr>
          <a:xfrm>
            <a:off x="8028432" y="5312664"/>
            <a:ext cx="34198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4754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Expand layers only as adoption needs grow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66576" y="6510528"/>
            <a:ext cx="274320" cy="1463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8912" y="237744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spc="130" kern="0" dirty="0">
                <a:solidFill>
                  <a:srgbClr val="146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STAGED ADOPTION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38912" y="484632"/>
            <a:ext cx="11201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500" b="1" dirty="0">
                <a:solidFill>
                  <a:srgbClr val="101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with Layer 1; expand only when evidence supports it</a:t>
            </a:r>
            <a:endParaRPr lang="en-US" sz="3500" dirty="0"/>
          </a:p>
        </p:txBody>
      </p:sp>
      <p:sp>
        <p:nvSpPr>
          <p:cNvPr id="4" name="Shape 2"/>
          <p:cNvSpPr/>
          <p:nvPr/>
        </p:nvSpPr>
        <p:spPr>
          <a:xfrm>
            <a:off x="438912" y="1115568"/>
            <a:ext cx="11301984" cy="0"/>
          </a:xfrm>
          <a:prstGeom prst="line">
            <a:avLst/>
          </a:prstGeom>
          <a:noFill/>
          <a:ln w="12700">
            <a:solidFill>
              <a:srgbClr val="D0D5D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25880" y="2834640"/>
            <a:ext cx="9509760" cy="0"/>
          </a:xfrm>
          <a:prstGeom prst="line">
            <a:avLst/>
          </a:prstGeom>
          <a:noFill/>
          <a:ln w="30480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2478024" y="2615184"/>
            <a:ext cx="438912" cy="438912"/>
          </a:xfrm>
          <a:prstGeom prst="ellipse">
            <a:avLst/>
          </a:prstGeom>
          <a:solidFill>
            <a:srgbClr val="1463F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371600" y="1444752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spc="120" kern="0" dirty="0">
                <a:solidFill>
                  <a:srgbClr val="146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371600" y="1755648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01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Foundation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371600" y="2176272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754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Layer 1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1371600" y="3328416"/>
            <a:ext cx="2651760" cy="1920240"/>
          </a:xfrm>
          <a:prstGeom prst="roundRect">
            <a:avLst/>
          </a:prstGeom>
          <a:solidFill>
            <a:srgbClr val="102A56"/>
          </a:solidFill>
          <a:ln w="15240">
            <a:solidFill>
              <a:srgbClr val="102A5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572768" y="3611880"/>
            <a:ext cx="146304" cy="146304"/>
          </a:xfrm>
          <a:prstGeom prst="ellipse">
            <a:avLst/>
          </a:prstGeom>
          <a:solidFill>
            <a:srgbClr val="A9C5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810512" y="3520440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Release the trusted baseline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1572768" y="4114800"/>
            <a:ext cx="146304" cy="146304"/>
          </a:xfrm>
          <a:prstGeom prst="ellipse">
            <a:avLst/>
          </a:prstGeom>
          <a:solidFill>
            <a:srgbClr val="A9C5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810512" y="4023360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 representative repositories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1572768" y="4617720"/>
            <a:ext cx="146304" cy="146304"/>
          </a:xfrm>
          <a:prstGeom prst="ellipse">
            <a:avLst/>
          </a:prstGeom>
          <a:solidFill>
            <a:srgbClr val="A9C5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810512" y="4526280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 adoption friction and control evidence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5678424" y="2615184"/>
            <a:ext cx="438912" cy="438912"/>
          </a:xfrm>
          <a:prstGeom prst="ellipse">
            <a:avLst/>
          </a:prstGeom>
          <a:solidFill>
            <a:srgbClr val="1463F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0" y="1444752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spc="120" kern="0" dirty="0">
                <a:solidFill>
                  <a:srgbClr val="146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2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572000" y="1755648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01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Enablement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4572000" y="2176272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754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Layers 2–3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4572000" y="3328416"/>
            <a:ext cx="2651760" cy="1920240"/>
          </a:xfrm>
          <a:prstGeom prst="roundRect">
            <a:avLst/>
          </a:prstGeom>
          <a:solidFill>
            <a:srgbClr val="EAF1FF"/>
          </a:solidFill>
          <a:ln w="15240">
            <a:solidFill>
              <a:srgbClr val="9ABE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773168" y="3611880"/>
            <a:ext cx="146304" cy="146304"/>
          </a:xfrm>
          <a:prstGeom prst="ellipse">
            <a:avLst/>
          </a:prstGeom>
          <a:solidFill>
            <a:srgbClr val="1463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010912" y="3520440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01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approved technology profiles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4773168" y="4114800"/>
            <a:ext cx="146304" cy="146304"/>
          </a:xfrm>
          <a:prstGeom prst="ellipse">
            <a:avLst/>
          </a:prstGeom>
          <a:solidFill>
            <a:srgbClr val="1463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10912" y="4023360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01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repository-owned context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4773168" y="4617720"/>
            <a:ext cx="146304" cy="146304"/>
          </a:xfrm>
          <a:prstGeom prst="ellipse">
            <a:avLst/>
          </a:prstGeom>
          <a:solidFill>
            <a:srgbClr val="1463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010912" y="4526280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01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Clarify central and local ownership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8878824" y="2615184"/>
            <a:ext cx="438912" cy="438912"/>
          </a:xfrm>
          <a:prstGeom prst="ellipse">
            <a:avLst/>
          </a:prstGeom>
          <a:solidFill>
            <a:srgbClr val="102A56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772400" y="1444752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spc="120" kern="0" dirty="0">
                <a:solidFill>
                  <a:srgbClr val="146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3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7772400" y="1755648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01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Governance at scale</a:t>
            </a:r>
            <a:endParaRPr lang="en-US" sz="2400" dirty="0"/>
          </a:p>
        </p:txBody>
      </p:sp>
      <p:sp>
        <p:nvSpPr>
          <p:cNvPr id="31" name="Text 29"/>
          <p:cNvSpPr/>
          <p:nvPr/>
        </p:nvSpPr>
        <p:spPr>
          <a:xfrm>
            <a:off x="7772400" y="2176272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754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Layers 4–6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7772400" y="3328416"/>
            <a:ext cx="2651760" cy="19202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0D5DD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973568" y="3611880"/>
            <a:ext cx="146304" cy="146304"/>
          </a:xfrm>
          <a:prstGeom prst="ellipse">
            <a:avLst/>
          </a:prstGeom>
          <a:solidFill>
            <a:srgbClr val="1463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211312" y="3520440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01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Formalize precedence</a:t>
            </a:r>
            <a:endParaRPr lang="en-US" sz="1500" dirty="0"/>
          </a:p>
        </p:txBody>
      </p:sp>
      <p:sp>
        <p:nvSpPr>
          <p:cNvPr id="35" name="Shape 33"/>
          <p:cNvSpPr/>
          <p:nvPr/>
        </p:nvSpPr>
        <p:spPr>
          <a:xfrm>
            <a:off x="7973568" y="4114800"/>
            <a:ext cx="146304" cy="146304"/>
          </a:xfrm>
          <a:prstGeom prst="ellipse">
            <a:avLst/>
          </a:prstGeom>
          <a:solidFill>
            <a:srgbClr val="1463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211312" y="4023360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01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 adoption assessment</a:t>
            </a:r>
            <a:endParaRPr lang="en-US" sz="1500" dirty="0"/>
          </a:p>
        </p:txBody>
      </p:sp>
      <p:sp>
        <p:nvSpPr>
          <p:cNvPr id="37" name="Shape 35"/>
          <p:cNvSpPr/>
          <p:nvPr/>
        </p:nvSpPr>
        <p:spPr>
          <a:xfrm>
            <a:off x="7973568" y="4617720"/>
            <a:ext cx="146304" cy="146304"/>
          </a:xfrm>
          <a:prstGeom prst="ellipse">
            <a:avLst/>
          </a:prstGeom>
          <a:solidFill>
            <a:srgbClr val="1463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211312" y="4526280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01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Introduce governed exceptions</a:t>
            </a:r>
            <a:endParaRPr lang="en-US" sz="1500" dirty="0"/>
          </a:p>
        </p:txBody>
      </p:sp>
      <p:sp>
        <p:nvSpPr>
          <p:cNvPr id="39" name="Shape 37"/>
          <p:cNvSpPr/>
          <p:nvPr/>
        </p:nvSpPr>
        <p:spPr>
          <a:xfrm>
            <a:off x="1371600" y="5623560"/>
            <a:ext cx="9052560" cy="530352"/>
          </a:xfrm>
          <a:prstGeom prst="roundRect">
            <a:avLst/>
          </a:prstGeom>
          <a:solidFill>
            <a:srgbClr val="F5F8FF"/>
          </a:solidFill>
          <a:ln w="12700">
            <a:solidFill>
              <a:srgbClr val="BDD2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554480" y="5742432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02A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standard  •  increasing context  •  controlled flexibility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66576" y="6510528"/>
            <a:ext cx="274320" cy="1463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Enterprise Engineering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Six-layer enterprise agent architecture</dc:title>
  <dc:subject>Business walkthrough of the six-layer Agent Standard architecture</dc:subject>
  <dc:creator>Agent Standard maintainers</dc:creator>
  <cp:lastModifiedBy>Agent Standard maintainers</cp:lastModifiedBy>
  <cp:revision>1</cp:revision>
  <dcterms:created xsi:type="dcterms:W3CDTF">2026-08-31T03:27:24Z</dcterms:created>
  <dcterms:modified xsi:type="dcterms:W3CDTF">2026-08-31T03:27:24Z</dcterms:modified>
</cp:coreProperties>
</file>